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2" r:id="rId8"/>
    <p:sldId id="269" r:id="rId9"/>
    <p:sldId id="271" r:id="rId10"/>
    <p:sldId id="272" r:id="rId11"/>
    <p:sldId id="273" r:id="rId12"/>
    <p:sldId id="274" r:id="rId13"/>
    <p:sldId id="266" r:id="rId14"/>
    <p:sldId id="275" r:id="rId15"/>
    <p:sldId id="276" r:id="rId16"/>
    <p:sldId id="267" r:id="rId17"/>
    <p:sldId id="26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Existing System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0.83099999999999996</c:v>
                </c:pt>
                <c:pt idx="1">
                  <c:v>0.74099999999999999</c:v>
                </c:pt>
                <c:pt idx="2">
                  <c:v>0.88300000000000001</c:v>
                </c:pt>
                <c:pt idx="3" formatCode="0%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30-AD46-A9B1-E40FF2022D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WatchLog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0.96</c:v>
                </c:pt>
                <c:pt idx="1">
                  <c:v>0.92</c:v>
                </c:pt>
                <c:pt idx="2">
                  <c:v>0.95</c:v>
                </c:pt>
                <c:pt idx="3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30-AD46-A9B1-E40FF2022D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51481407"/>
        <c:axId val="851488575"/>
      </c:barChart>
      <c:catAx>
        <c:axId val="851481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1488575"/>
        <c:crosses val="autoZero"/>
        <c:auto val="1"/>
        <c:lblAlgn val="ctr"/>
        <c:lblOffset val="100"/>
        <c:noMultiLvlLbl val="0"/>
      </c:catAx>
      <c:valAx>
        <c:axId val="851488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1481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/>
          <a:lstStyle/>
          <a:p>
            <a:r>
              <a:rPr lang="en-IN" dirty="0" err="1"/>
              <a:t>WatchLog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Harsh Kumar</a:t>
            </a:r>
          </a:p>
          <a:p>
            <a:r>
              <a:rPr lang="en-IN" dirty="0"/>
              <a:t>2427030229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Neha Janu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• System logs are essential for monitoring system health, security, and performance in modern distributed environments.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Centralized anomaly detection methods compromise privacy and face scalability challenges.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Deep learning techniques like LSTM Autoencoders can detect complex sequential anomalies effectively.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WatchLog</a:t>
            </a:r>
            <a:r>
              <a:rPr lang="en-US" dirty="0"/>
              <a:t> integrates Federated Learning with LSTM Autoencoders to provide a privacy-preserving, scalable, and automated anomaly detection solution.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 </a:t>
            </a:r>
            <a:r>
              <a:rPr lang="en-US" dirty="0"/>
              <a:t>— Existing Approaches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• Log anomaly detection is critical for ensuring reliability, security, and performance in modern distributed systems such as cloud infrastructure and enterprise servers.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Traditional centralized machine learning approaches require collecting all log data on a central server, creating privacy risks, scalability issues, and single points of failure.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Deep learning models such as </a:t>
            </a:r>
            <a:r>
              <a:rPr lang="en-US" b="1" dirty="0" err="1"/>
              <a:t>DeepLog</a:t>
            </a:r>
            <a:r>
              <a:rPr lang="en-US" b="1" dirty="0"/>
              <a:t> (2017)</a:t>
            </a:r>
            <a:r>
              <a:rPr lang="en-US" dirty="0"/>
              <a:t> and </a:t>
            </a:r>
            <a:r>
              <a:rPr lang="en-US" b="1" dirty="0" err="1"/>
              <a:t>LogAnomaly</a:t>
            </a:r>
            <a:r>
              <a:rPr lang="en-US" b="1" dirty="0"/>
              <a:t> (2019)</a:t>
            </a:r>
            <a:r>
              <a:rPr lang="en-US" dirty="0"/>
              <a:t> use LSTM networks to capture sequential patterns in logs and detect anomalies effectively.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Transformer-based models like </a:t>
            </a:r>
            <a:r>
              <a:rPr lang="en-US" b="1" dirty="0" err="1"/>
              <a:t>LogBERT</a:t>
            </a:r>
            <a:r>
              <a:rPr lang="en-US" b="1" dirty="0"/>
              <a:t> (2021)</a:t>
            </a:r>
            <a:r>
              <a:rPr lang="en-US" dirty="0"/>
              <a:t> further improve anomaly detection accuracy by learning complex contextual relationships in log sequences.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7A6D-C01B-58D6-44D3-5FF94F7D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Literature Review — Federated Learning &amp; 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E9E55-74A9-0679-744B-E6E281E97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• Federated Learning enables decentralized model training across multiple clients without sharing raw log data, preserving privacy and improving scalability.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Recent systems such as </a:t>
            </a:r>
            <a:r>
              <a:rPr lang="en-US" b="1" dirty="0" err="1"/>
              <a:t>FedLog</a:t>
            </a:r>
            <a:r>
              <a:rPr lang="en-US" b="1" dirty="0"/>
              <a:t> (2024)</a:t>
            </a:r>
            <a:r>
              <a:rPr lang="en-US" dirty="0"/>
              <a:t> and federated anomaly detection models combine distributed learning with deep neural networks for improved detection.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LSTM Autoencoders have proven effective for unsupervised anomaly detection by learning normal behavior and detecting deviations using reconstruction error.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However, existing systems lack a complete integration of Federated Learning with LSTM Autoencoders for privacy-preserving, scalable, and real-world log anomaly detection.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436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Modern IT systems generate massive volumes of log data, making manual monitoring inefficient, while centralized machine learning approaches compromise privacy and fail to effectively detect complex sequential anomalies.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• Develop a privacy-preserving log anomaly detection system using Federated Learning without sharing raw log data.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Implement an LSTM Autoencoder to learn sequential log patterns and accurately detect anomalies using reconstruction error.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Design a scalable and decentralized architecture that enables collaborative model training across multiple distributed clients.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Improve anomaly detection performance in terms of accuracy, precision, recall, and overall system reliability.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AED94-2877-EC16-DE36-CA2204F58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960"/>
            <a:ext cx="10515600" cy="1325563"/>
          </a:xfrm>
        </p:spPr>
        <p:txBody>
          <a:bodyPr/>
          <a:lstStyle/>
          <a:p>
            <a:r>
              <a:rPr lang="en-US" dirty="0"/>
              <a:t>Proposed Methodology</a:t>
            </a:r>
          </a:p>
        </p:txBody>
      </p:sp>
      <p:pic>
        <p:nvPicPr>
          <p:cNvPr id="8" name="Content Placeholder 7" descr="A diagram of a process&#10;&#10;AI-generated content may be incorrect.">
            <a:extLst>
              <a:ext uri="{FF2B5EF4-FFF2-40B4-BE49-F238E27FC236}">
                <a16:creationId xmlns:a16="http://schemas.microsoft.com/office/drawing/2014/main" id="{482F6F7C-F1D0-8A09-B5A0-3F149F22D6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04" y="1290966"/>
            <a:ext cx="9065287" cy="427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197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EA1BA-BED6-A1F4-0A8A-E981E463B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and Log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041DF-DAAE-149B-8FD9-02A603DAB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• HDFS (Hadoop Distributed File System) log dataset is used as the input data source.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Raw log messages are parsed using the </a:t>
            </a:r>
            <a:r>
              <a:rPr lang="en-US" b="1" dirty="0"/>
              <a:t>Drain log parsing algorithm</a:t>
            </a:r>
            <a:r>
              <a:rPr lang="en-US" dirty="0"/>
              <a:t> to convert unstructured logs into structured templates.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Each log template is assigned a unique </a:t>
            </a:r>
            <a:r>
              <a:rPr lang="en-US" b="1" dirty="0"/>
              <a:t>Event ID</a:t>
            </a:r>
            <a:r>
              <a:rPr lang="en-US" dirty="0"/>
              <a:t> to convert textual data into numerical format.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A </a:t>
            </a:r>
            <a:r>
              <a:rPr lang="en-US" b="1" dirty="0"/>
              <a:t>sliding window technique</a:t>
            </a:r>
            <a:r>
              <a:rPr lang="en-US" dirty="0"/>
              <a:t> is used to generate sequential log event sequences for model training.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84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C90F8-9A56-AAE5-8983-C0C81D89E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Autoencoder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561EC-4EA5-6B4D-F1CF-9AEFC6873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• An </a:t>
            </a:r>
            <a:r>
              <a:rPr lang="en-US" b="1" dirty="0"/>
              <a:t>LSTM Autoencoder</a:t>
            </a:r>
            <a:r>
              <a:rPr lang="en-US" dirty="0"/>
              <a:t> is used to learn normal log sequence patterns.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The </a:t>
            </a:r>
            <a:r>
              <a:rPr lang="en-US" b="1" dirty="0"/>
              <a:t>Encoder</a:t>
            </a:r>
            <a:r>
              <a:rPr lang="en-US" dirty="0"/>
              <a:t> compresses input log sequences into a lower-dimensional latent representation.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The </a:t>
            </a:r>
            <a:r>
              <a:rPr lang="en-US" b="1" dirty="0"/>
              <a:t>Decoder</a:t>
            </a:r>
            <a:r>
              <a:rPr lang="en-US" dirty="0"/>
              <a:t> reconstructs the original log sequence from the latent space.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Reconstruction error</a:t>
            </a:r>
            <a:r>
              <a:rPr lang="en-US" dirty="0"/>
              <a:t> is calculated as the difference between input and reconstructed sequence to detect anomalies.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11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8127B-216D-0E62-F2A9-61F99A8A5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Federated Learning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2578-FC19-48E5-E8DB-B35620275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• Multiple clients train the LSTM Autoencoder locally using their private log data.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Raw log data never leaves the client, ensuring complete </a:t>
            </a:r>
            <a:r>
              <a:rPr lang="en-US" b="1" dirty="0"/>
              <a:t>data privacy and security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A central server aggregates model weights using the </a:t>
            </a:r>
            <a:r>
              <a:rPr lang="en-US" b="1" dirty="0" err="1"/>
              <a:t>FedAvg</a:t>
            </a:r>
            <a:r>
              <a:rPr lang="en-US" b="1" dirty="0"/>
              <a:t> (Federated Averaging) algorithm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The updated global model is shared with all clients to improve detection performance collaboratively.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398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D46F-FE43-815F-974C-462A2E39E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 Detection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35AA-BBC2-A7AA-386F-089D11D7E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• Log data is parsed and converted into event sequences.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LSTM Autoencoder is trained to learn normal system behavior.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Reconstruction error is computed for each log sequence.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• Threshold-based methods (Percentile, Standard Deviation, IQR) are used to classify anomalies.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232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4913-00D1-0B0F-38B7-C226FBBC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Tabular Result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575333-FEE0-77B7-50F1-F3E6C5B2D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886616"/>
              </p:ext>
            </p:extLst>
          </p:nvPr>
        </p:nvGraphicFramePr>
        <p:xfrm>
          <a:off x="838200" y="2564523"/>
          <a:ext cx="10515600" cy="3195145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5942944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978111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972965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90207126"/>
                    </a:ext>
                  </a:extLst>
                </a:gridCol>
              </a:tblGrid>
              <a:tr h="639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Metric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Existing System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WatchLog (Proposed)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Improvement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585371"/>
                  </a:ext>
                </a:extLst>
              </a:tr>
              <a:tr h="639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83.1%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+12.9%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904210"/>
                  </a:ext>
                </a:extLst>
              </a:tr>
              <a:tr h="639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74.1%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+17.9%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535770"/>
                  </a:ext>
                </a:extLst>
              </a:tr>
              <a:tr h="639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88.3%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+6.7%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436453"/>
                  </a:ext>
                </a:extLst>
              </a:tr>
              <a:tr h="639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F1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81.0%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+12.0%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570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B4F7-4EC1-EBD2-E4D5-8E8378FC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2. Bar Chart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539425-F74D-2E7F-BE99-D737EE1F1E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876577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27141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5889-E718-A75D-4D82-B9FB0507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9243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3. Federated Learning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BB96D-6107-FA77-3FD3-FF69050F1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6" name="Picture 5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810CE5A4-DB39-1D3C-3173-221DA5F87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12309"/>
            <a:ext cx="9924393" cy="20924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6C4425-8139-9852-29ED-37C6A8AFEC80}"/>
              </a:ext>
            </a:extLst>
          </p:cNvPr>
          <p:cNvSpPr txBox="1"/>
          <p:nvPr/>
        </p:nvSpPr>
        <p:spPr>
          <a:xfrm>
            <a:off x="838199" y="4001294"/>
            <a:ext cx="11196145" cy="2804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SzPct val="100000"/>
            </a:pPr>
            <a:r>
              <a:rPr lang="en-US" dirty="0">
                <a:ea typeface="Roboto" pitchFamily="34" charset="-122"/>
                <a:cs typeface="Roboto" pitchFamily="34" charset="-120"/>
              </a:rPr>
              <a:t>Advantages:</a:t>
            </a:r>
            <a:br>
              <a:rPr lang="en-US" dirty="0">
                <a:ea typeface="Roboto" pitchFamily="34" charset="-122"/>
                <a:cs typeface="Roboto" pitchFamily="34" charset="-120"/>
              </a:rPr>
            </a:br>
            <a:endParaRPr lang="en-US" dirty="0">
              <a:ea typeface="Roboto" pitchFamily="34" charset="-122"/>
              <a:cs typeface="Roboto" pitchFamily="34" charset="-120"/>
            </a:endParaRPr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dirty="0">
                <a:ea typeface="Roboto" pitchFamily="34" charset="-122"/>
                <a:cs typeface="Roboto" pitchFamily="34" charset="-120"/>
              </a:rPr>
              <a:t>Guarantees privacy by keeping sensitive log data on local devices—no centralized data repository means reduced breach risk and compliance with GDPR, HIPAA, and other regulations.</a:t>
            </a:r>
            <a:br>
              <a:rPr lang="en-US" dirty="0">
                <a:ea typeface="Roboto" pitchFamily="34" charset="-122"/>
                <a:cs typeface="Roboto" pitchFamily="34" charset="-120"/>
              </a:rPr>
            </a:br>
            <a:endParaRPr lang="en-US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800" dirty="0">
                <a:ea typeface="Roboto" pitchFamily="34" charset="-122"/>
                <a:cs typeface="Roboto" pitchFamily="34" charset="-120"/>
              </a:rPr>
              <a:t>Enhances security during model training by decentralizing the process—eliminates single points of failure and reduces attack surface.</a:t>
            </a:r>
            <a:br>
              <a:rPr lang="en-US" sz="1800" dirty="0">
                <a:ea typeface="Roboto" pitchFamily="34" charset="-122"/>
                <a:cs typeface="Roboto" pitchFamily="34" charset="-120"/>
              </a:rPr>
            </a:br>
            <a:endParaRPr lang="en-US" sz="180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800" dirty="0">
                <a:ea typeface="Roboto" pitchFamily="34" charset="-122"/>
                <a:cs typeface="Roboto" pitchFamily="34" charset="-120"/>
              </a:rPr>
              <a:t>Facilitates distributed learning, enabling collaboration without data exposure—organizations can benefit from collective intelligence without sharing proprietary information.</a:t>
            </a:r>
            <a:br>
              <a:rPr lang="en-US" sz="1800" dirty="0">
                <a:ea typeface="Roboto" pitchFamily="34" charset="-122"/>
                <a:cs typeface="Roboto" pitchFamily="34" charset="-120"/>
              </a:rPr>
            </a:br>
            <a:endParaRPr lang="en-US" sz="180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800" dirty="0">
                <a:ea typeface="Roboto" pitchFamily="34" charset="-122"/>
                <a:cs typeface="Roboto" pitchFamily="34" charset="-120"/>
              </a:rPr>
              <a:t>Improves model robustness by training on diverse, heterogeneous data distributions across multiple clients.</a:t>
            </a:r>
            <a:br>
              <a:rPr lang="en-US" sz="1800" dirty="0">
                <a:ea typeface="Roboto" pitchFamily="34" charset="-122"/>
                <a:cs typeface="Roboto" pitchFamily="34" charset="-120"/>
              </a:rPr>
            </a:br>
            <a:endParaRPr lang="en-US" sz="180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800" dirty="0">
                <a:ea typeface="Roboto" pitchFamily="34" charset="-122"/>
                <a:cs typeface="Roboto" pitchFamily="34" charset="-120"/>
              </a:rPr>
              <a:t>Reduces communication overhead compared to centralized approaches by only transmitting model parameters instead of raw data.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36896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dirty="0"/>
              <a:t>• Successfully developed </a:t>
            </a:r>
            <a:r>
              <a:rPr lang="en-US" sz="1600" b="1" dirty="0" err="1"/>
              <a:t>WatchLog</a:t>
            </a:r>
            <a:r>
              <a:rPr lang="en-US" sz="1600" dirty="0"/>
              <a:t>, a privacy-preserving log anomaly detection system using Federated Learning and LSTM Autoencoder.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• Implemented decentralized model training where </a:t>
            </a:r>
            <a:r>
              <a:rPr lang="en-US" sz="1600" b="1" dirty="0"/>
              <a:t>raw log data remains on local clients</a:t>
            </a:r>
            <a:r>
              <a:rPr lang="en-US" sz="1600" dirty="0"/>
              <a:t>, ensuring complete data privacy and security.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• Achieved </a:t>
            </a:r>
            <a:r>
              <a:rPr lang="en-US" sz="1600" b="1" dirty="0"/>
              <a:t>high anomaly detection performance (96% accuracy, 93% F1 score)</a:t>
            </a:r>
            <a:r>
              <a:rPr lang="en-US" sz="1600" dirty="0"/>
              <a:t> on the HDFS log dataset, outperforming existing methods.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• Designed a </a:t>
            </a:r>
            <a:r>
              <a:rPr lang="en-US" sz="1600" b="1" dirty="0"/>
              <a:t>scalable and distributed architecture</a:t>
            </a:r>
            <a:r>
              <a:rPr lang="en-US" sz="1600" dirty="0"/>
              <a:t> suitable for real-world enterprise and cloud infrastructure monitoring.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• Real-time deployment: </a:t>
            </a:r>
            <a:r>
              <a:rPr lang="en-US" sz="1600" b="1" dirty="0"/>
              <a:t>Partially completed</a:t>
            </a:r>
            <a:r>
              <a:rPr lang="en-US" sz="1600" dirty="0"/>
              <a:t> (model training and federated framework implemented; full deployment planned).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• Research Paper: </a:t>
            </a:r>
            <a:r>
              <a:rPr lang="en-US" sz="1600" b="1" dirty="0"/>
              <a:t>Draft in progress</a:t>
            </a:r>
            <a:r>
              <a:rPr lang="en-US" sz="1600" dirty="0"/>
              <a:t> based on </a:t>
            </a:r>
            <a:r>
              <a:rPr lang="en-US" sz="1600" dirty="0" err="1"/>
              <a:t>WatchLog</a:t>
            </a:r>
            <a:r>
              <a:rPr lang="en-US" sz="1600" dirty="0"/>
              <a:t> system and experimental results.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428"/>
            <a:ext cx="10515600" cy="520262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Nogami, K., Tamura, H., Tanaka, G. “Federated Learning with Reservoir State Analysis for Time Series Anomaly Detection.” IEEE, 2025.</a:t>
            </a:r>
            <a:br>
              <a:rPr lang="en-US" dirty="0"/>
            </a:br>
            <a:endParaRPr lang="en-US" dirty="0"/>
          </a:p>
          <a:p>
            <a:r>
              <a:rPr lang="en-US" dirty="0"/>
              <a:t>Vasiljevic, P., Matic, M., Popovic, M. “Federated Isolation Forest for Efficient Anomaly Detection on Edge IoT Systems.” IEEE, 2025.</a:t>
            </a:r>
            <a:br>
              <a:rPr lang="en-US" dirty="0"/>
            </a:br>
            <a:endParaRPr lang="en-US" dirty="0"/>
          </a:p>
          <a:p>
            <a:r>
              <a:rPr lang="en-US" dirty="0"/>
              <a:t>Rahman, R., Shaham, S., Nguyen, D. C. “Towards Personalized Quantum Federated Learning for Anomaly Detection.” IEEE, 2025.</a:t>
            </a:r>
            <a:br>
              <a:rPr lang="en-US" dirty="0"/>
            </a:br>
            <a:endParaRPr lang="en-US" dirty="0"/>
          </a:p>
          <a:p>
            <a:r>
              <a:rPr lang="en-US" dirty="0"/>
              <a:t>Himler, P., Landauer, M., </a:t>
            </a:r>
            <a:r>
              <a:rPr lang="en-US" dirty="0" err="1"/>
              <a:t>Skopik</a:t>
            </a:r>
            <a:r>
              <a:rPr lang="en-US" dirty="0"/>
              <a:t>, F. “</a:t>
            </a:r>
            <a:r>
              <a:rPr lang="en-US" dirty="0" err="1"/>
              <a:t>FedLog</a:t>
            </a:r>
            <a:r>
              <a:rPr lang="en-US" dirty="0"/>
              <a:t>: Federated Learning for Log Anomaly Detection.” IEEE, 2024.</a:t>
            </a:r>
            <a:br>
              <a:rPr lang="en-US" dirty="0"/>
            </a:br>
            <a:endParaRPr lang="en-US" dirty="0"/>
          </a:p>
          <a:p>
            <a:r>
              <a:rPr lang="en-US" dirty="0"/>
              <a:t>Du, M., et al. “</a:t>
            </a:r>
            <a:r>
              <a:rPr lang="en-US" dirty="0" err="1"/>
              <a:t>DeepLog</a:t>
            </a:r>
            <a:r>
              <a:rPr lang="en-US" dirty="0"/>
              <a:t>: Anomaly Detection and Diagnosis from System Logs using Deep Learning.” IEEE CCS, 2017.</a:t>
            </a:r>
            <a:br>
              <a:rPr lang="en-US" dirty="0"/>
            </a:br>
            <a:endParaRPr lang="en-US" dirty="0"/>
          </a:p>
          <a:p>
            <a:r>
              <a:rPr lang="en-US" dirty="0"/>
              <a:t>Meng, W., et al. “</a:t>
            </a:r>
            <a:r>
              <a:rPr lang="en-US" dirty="0" err="1"/>
              <a:t>LogAnomaly</a:t>
            </a:r>
            <a:r>
              <a:rPr lang="en-US" dirty="0"/>
              <a:t>: Unsupervised Detection of Sequential and Quantitative Anomalies.” IJCAI, 2019.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Provotar</a:t>
            </a:r>
            <a:r>
              <a:rPr lang="en-US" dirty="0"/>
              <a:t>, O., Linder, Y. “LSTM Autoencoders for Unsupervised Anomaly Detection.” IEEE, 2020.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1181</Words>
  <Application>Microsoft Macintosh PowerPoint</Application>
  <PresentationFormat>Widescreen</PresentationFormat>
  <Paragraphs>134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Roboto</vt:lpstr>
      <vt:lpstr>Wingdings</vt:lpstr>
      <vt:lpstr>Office Theme</vt:lpstr>
      <vt:lpstr>WatchLog</vt:lpstr>
      <vt:lpstr>Outline</vt:lpstr>
      <vt:lpstr>Introduction</vt:lpstr>
      <vt:lpstr>Literature Review — Existing Approaches</vt:lpstr>
      <vt:lpstr>Literature Review — Federated Learning &amp; Research Gap</vt:lpstr>
      <vt:lpstr>Problem Statement</vt:lpstr>
      <vt:lpstr>Objectives</vt:lpstr>
      <vt:lpstr>Proposed Methodology</vt:lpstr>
      <vt:lpstr>Dataset and Log Preprocessing</vt:lpstr>
      <vt:lpstr>LSTM Autoencoder Model Architecture</vt:lpstr>
      <vt:lpstr>Federated Learning Framework</vt:lpstr>
      <vt:lpstr>Anomaly Detection Workflow</vt:lpstr>
      <vt:lpstr>Result </vt:lpstr>
      <vt:lpstr>  2. Bar Chart</vt:lpstr>
      <vt:lpstr>3. Federated Learning Architecture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Harsh Kumar [CSE - 2024]</cp:lastModifiedBy>
  <cp:revision>9</cp:revision>
  <dcterms:created xsi:type="dcterms:W3CDTF">2025-09-29T05:03:41Z</dcterms:created>
  <dcterms:modified xsi:type="dcterms:W3CDTF">2026-02-19T04:18:04Z</dcterms:modified>
</cp:coreProperties>
</file>